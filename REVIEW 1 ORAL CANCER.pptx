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43" r:id="rId3"/>
    <p:sldId id="367" r:id="rId4"/>
    <p:sldId id="363" r:id="rId5"/>
    <p:sldId id="366" r:id="rId6"/>
    <p:sldId id="352" r:id="rId7"/>
    <p:sldId id="364" r:id="rId8"/>
    <p:sldId id="365" r:id="rId9"/>
    <p:sldId id="345" r:id="rId10"/>
    <p:sldId id="360" r:id="rId11"/>
    <p:sldId id="351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jO0fsVscgIGoCaqTlxEt9hSbl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B3"/>
    <a:srgbClr val="285D88"/>
    <a:srgbClr val="86C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124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368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5EA49C5-52B5-CD45-607E-470D2D7B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B3CB04E-F4AF-D76E-A236-03214AC0F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2E87FA7B-99DF-6E89-6849-77A5AD1A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47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5C515C-DA14-7D70-E40A-6530E507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48380B16-9BCF-27DE-CEB1-F8ECDC6E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D3DA7759-D444-F0A5-E73C-43FD89F07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1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664807E-5B85-F207-4CCA-86CDA1A5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65E36CB1-68AA-90BA-9A83-0D30063E5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68C00C92-5B4A-9D6E-2AF9-DD84BCF79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711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1B7B01C-ECF2-C087-3E84-2F9A9106C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74AABDAE-FAA3-27A7-7A85-84F0EE559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9B3DF815-9F3C-09C7-0FF5-BC0E4B222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9841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0A54BF7-5F96-20B0-9226-BD98E250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1051D1A9-0418-DA21-E15D-645D1822A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95C74605-730D-4F11-C0E8-562E3AEA5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58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65B66B-9713-4C32-D985-A9421324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7919037-DA05-4612-DE79-ACAF103C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AD49DDDE-603F-CED4-808D-591A53A64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52884C1-EAFF-830F-DBCD-100BDBB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96F79C7E-D286-27AA-727F-AC84658F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EB5DCFB4-2FDF-3324-EE39-C03AE079A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4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e6ea673ec_0_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ae6ea673ec_0_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ae6ea673ec_0_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ae6ea673ec_0_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ae6ea673ec_0_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ae6ea673ec_0_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ae6ea673ec_0_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ae6ea673ec_0_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ae6ea673ec_0_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ae6ea673ec_0_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ae6ea673ec_0_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ae6ea673ec_0_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ae6ea673ec_0_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gae6ea673ec_0_2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gae6ea673ec_0_2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ae6ea673ec_0_2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ae6ea673ec_0_2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ae6ea673ec_0_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ae6ea673ec_0_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e6ea673ec_0_3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ae6ea673ec_0_3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ae6ea673ec_0_3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ae6ea673ec_0_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ae6ea673ec_0_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ae6ea673ec_0_44"/>
          <p:cNvSpPr/>
          <p:nvPr/>
        </p:nvSpPr>
        <p:spPr>
          <a:xfrm rot="-10379968" flipH="1">
            <a:off x="3165539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ae6ea673ec_0_44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ae6ea673ec_0_4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ae6ea673ec_0_4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ae6ea673ec_0_4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ae6ea673ec_0_4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gae6ea673ec_0_44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ae6ea673ec_0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ae6ea673ec_0_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e6ea673ec_0_5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ae6ea673ec_0_54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gae6ea673ec_0_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ae6ea673ec_0_5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e6ea673ec_0_59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ae6ea673ec_0_59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ae6ea673ec_0_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ae6ea673ec_0_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e6ea673ec_0_6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ae6ea673ec_0_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ae6ea673ec_0_6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e6ea673ec_0_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gae6ea673ec_0_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ae6ea673ec_0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71" y="13267"/>
            <a:ext cx="8444525" cy="13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695" y="6040503"/>
            <a:ext cx="142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32137" y="1738435"/>
            <a:ext cx="798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22CSP72 – PROJECT WORK II PHASE I</a:t>
            </a:r>
            <a:endParaRPr sz="2800" dirty="0"/>
          </a:p>
        </p:txBody>
      </p:sp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CA920FF5-84A3-D21C-3594-613A0A86852A}"/>
              </a:ext>
            </a:extLst>
          </p:cNvPr>
          <p:cNvSpPr txBox="1"/>
          <p:nvPr/>
        </p:nvSpPr>
        <p:spPr>
          <a:xfrm>
            <a:off x="979893" y="2449874"/>
            <a:ext cx="7672402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1800" b="1" dirty="0"/>
              <a:t>An Agentic Vision-Language Framework for Explainable Oral Cancer Screening using Evidence Verification and Confidence-Aware Clinical Reasoning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768FC-97D5-5421-58A1-35BC1107F6A5}"/>
              </a:ext>
            </a:extLst>
          </p:cNvPr>
          <p:cNvSpPr txBox="1"/>
          <p:nvPr/>
        </p:nvSpPr>
        <p:spPr>
          <a:xfrm>
            <a:off x="905070" y="4286177"/>
            <a:ext cx="3806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DONE BY,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23CSR149 NITHEESH 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23CSR174 REDHANI T V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23CSR184 SABARISH K 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8C992-19B2-6D63-7DC0-A2A6DE92A61C}"/>
              </a:ext>
            </a:extLst>
          </p:cNvPr>
          <p:cNvSpPr txBox="1"/>
          <p:nvPr/>
        </p:nvSpPr>
        <p:spPr>
          <a:xfrm>
            <a:off x="6150399" y="4727323"/>
            <a:ext cx="3157502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SUPERVISED BY,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Ms.D.NANTHIYA</a:t>
            </a:r>
            <a:r>
              <a:rPr lang="en-US" sz="1800" dirty="0"/>
              <a:t>, AP(SRC)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19A232A-4F76-E247-BE7A-907643E6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9CF70-0D9A-4CE9-AD66-81529966C02A}"/>
              </a:ext>
            </a:extLst>
          </p:cNvPr>
          <p:cNvSpPr txBox="1"/>
          <p:nvPr/>
        </p:nvSpPr>
        <p:spPr>
          <a:xfrm>
            <a:off x="474453" y="78794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9E6F7-0BD0-3E73-B2BA-B362DBC1D785}"/>
              </a:ext>
            </a:extLst>
          </p:cNvPr>
          <p:cNvSpPr txBox="1"/>
          <p:nvPr/>
        </p:nvSpPr>
        <p:spPr>
          <a:xfrm>
            <a:off x="1164874" y="1481066"/>
            <a:ext cx="7292184" cy="393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Oral cancer is often diagnosed at advanced stages, resulting in high morbidity and mortality rates.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Current diagnosis relies on biopsy and expert histopathological examination, making the process invasive, time-consuming, and costly.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There is a shortage of specialized oral pathologists, particularly in rural and low-resource regions.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deep learning models function as black-box systems and do not provide transparent clinical reasoning or evidence verification.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Current AI systems lack knowledge grounding, confidence estimation, and clinician-friendly explanations, reducing trust and real-world adoption.</a:t>
            </a:r>
          </a:p>
          <a:p>
            <a:pPr>
              <a:lnSpc>
                <a:spcPct val="150000"/>
              </a:lnSpc>
            </a:pPr>
            <a:br>
              <a:rPr lang="en-IN" dirty="0"/>
            </a:br>
            <a:endParaRPr lang="en-US" dirty="0"/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07069F3E-5069-F03F-A939-A6A3F1C9DDFA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40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21D4-A6B6-36F6-1B21-68703453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EF8D63-F032-A7A3-015A-43E81F12DD9F}"/>
              </a:ext>
            </a:extLst>
          </p:cNvPr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12DA5B-5695-FED9-E346-78097E210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72881"/>
              </p:ext>
            </p:extLst>
          </p:nvPr>
        </p:nvGraphicFramePr>
        <p:xfrm>
          <a:off x="862640" y="1077824"/>
          <a:ext cx="7988061" cy="4568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60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Paper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Summary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Research Gap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41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Explainable label guided lightweight network with axial transformer encoder for early detection of oral cancer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(BASE PAPER)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dirty="0"/>
                        <a:t>Developed a lightweight CNN-Transformer model (</a:t>
                      </a:r>
                      <a:r>
                        <a:rPr lang="en-IN" sz="1200" dirty="0" err="1"/>
                        <a:t>LWENet</a:t>
                      </a:r>
                      <a:r>
                        <a:rPr lang="en-IN" sz="1200" dirty="0"/>
                        <a:t>) with Grad-CAM for accurate and interpretable oral cancer classification.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Limited to classification; lacks lesion segmentation, medical knowledge retrieval, and explainable multi-agent clinical reasoning.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Guan et al. (2025) – Multi-OSCC Histopathology Dataset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Introduced a large-scale benchmark dataset with 1325 OSCC patients for diagnosis and prognosis research.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Provides dataset only; no explainable diagnostic framework.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Multi-Agent Systems for Clinical Decision Support: A Systematic Review (2025)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Reviewed multi-agent AI systems for healthcare decision support and diagnostic reasoning.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Not specifically designed for oral lesion imaging or oral cancer screening.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882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77648"/>
              </p:ext>
            </p:extLst>
          </p:nvPr>
        </p:nvGraphicFramePr>
        <p:xfrm>
          <a:off x="862640" y="1077824"/>
          <a:ext cx="7988061" cy="4684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60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Paper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Summary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Research Gap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Warin &amp; </a:t>
                      </a:r>
                      <a:r>
                        <a:rPr lang="en-IN" sz="1200" dirty="0" err="1"/>
                        <a:t>Suebnukarn</a:t>
                      </a:r>
                      <a:r>
                        <a:rPr lang="en-IN" sz="1200" dirty="0"/>
                        <a:t> (2024) – Deep Learning in Oral Cancer: A Systematic Review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dirty="0"/>
                        <a:t>Reviewed 54 studies on deep learning applications for oral cancer detection, classification, segmentation, and prognosis.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No explainable AI, no agentic framework, no confidence-aware reasoning.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Dutta et al. (2024) – Oral Cancer Classification Using Hybrid Attention-Aided Deep Learning Model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Used EfficientNetB0 with hybrid attention mechanisms to improve feature extraction and oral cancer classification.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Focuses only on classification; lacks clinical reasoning and evidence verification.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Deep Learning for Early Diagnosis of Oral Cancer via Smartphone/DSLR Images (2024)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Evaluated deep learning models on smartphone and DSLR oral images for early screening.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No literature grounding, no multi-agent decision-making framework.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4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BFCD-433B-1D16-4FC4-14035A4B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1B563B-8388-ED29-6E0E-4A51A1EC4B58}"/>
              </a:ext>
            </a:extLst>
          </p:cNvPr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03289A-16B0-C9DF-93BE-9EC3403FE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97392"/>
              </p:ext>
            </p:extLst>
          </p:nvPr>
        </p:nvGraphicFramePr>
        <p:xfrm>
          <a:off x="862640" y="1077824"/>
          <a:ext cx="7988061" cy="4684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60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Paper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Summary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Research Gap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Early Oral Cancer Detection with AI: Deep Learning Image-Based Chatbot (2025)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dirty="0"/>
                        <a:t>Combined CNN, Class Activation Mapping, and chatbot-based interaction for patient assistance.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Chatbot responses are not evidence-verified and lack medical knowledge retrieval.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Performance Evaluation of Oral Cancer Detection and Classification Using Deep Learning (2022)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Combined clinical information and imaging features using optimized CNN architecture.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Limited interpretability and no evidence validation mechanism.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Oral Cancer Detection Using Deep Learning Techniques (2023)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Applied deep learning to oral cytology and brush biopsy images for detection.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Limited focus on image classification; lacks confidence estimation.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41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8619D78-FEF4-4449-2820-CA02B0FC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F2AEB1-7170-6C3C-A575-749A72E74931}"/>
              </a:ext>
            </a:extLst>
          </p:cNvPr>
          <p:cNvSpPr txBox="1"/>
          <p:nvPr/>
        </p:nvSpPr>
        <p:spPr>
          <a:xfrm>
            <a:off x="891421" y="11322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37D041D5-E99C-0198-50EE-3086F8A4A046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447825" y="1692723"/>
            <a:ext cx="7565365" cy="3041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After reviewing previous studies, the following gaps were identified: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existing work combines oral lesion analysis with Vision-Language Models and Medical RAG.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Existing AI systems do not verify whether explanations match actual lesion regions.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oral-cancer-specific multi-agent diagnostic framework exists.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framework integrates detection, segmentation, reasoning, verification, and recommendation into a single pipeline.</a:t>
            </a:r>
          </a:p>
        </p:txBody>
      </p:sp>
    </p:spTree>
    <p:extLst>
      <p:ext uri="{BB962C8B-B14F-4D97-AF65-F5344CB8AC3E}">
        <p14:creationId xmlns:p14="http://schemas.microsoft.com/office/powerpoint/2010/main" val="291298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00E30E5-22AC-7B86-AE9A-F5341F62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38B00F-FA20-761A-AA1D-01EE3710E368}"/>
              </a:ext>
            </a:extLst>
          </p:cNvPr>
          <p:cNvSpPr txBox="1"/>
          <p:nvPr/>
        </p:nvSpPr>
        <p:spPr>
          <a:xfrm>
            <a:off x="0" y="4586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644DC717-B4C7-F6F2-4C41-BA4AEBFF7B6C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408DD-3F54-89C3-7868-90790D2A3A63}"/>
              </a:ext>
            </a:extLst>
          </p:cNvPr>
          <p:cNvSpPr/>
          <p:nvPr/>
        </p:nvSpPr>
        <p:spPr>
          <a:xfrm>
            <a:off x="1447825" y="907719"/>
            <a:ext cx="7565365" cy="261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 an agentic multi-stage oral cancer screening system.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Integrate Vision-Language Models for image and clinical understanding.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Incorporate Medical RAG for evidence-grounded reasoning.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 evidence verification to reduce unsupported predictions.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Generate confidence-aware clinical recommendations.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 performance with traditional CNN and </a:t>
            </a:r>
            <a:r>
              <a:rPr lang="en-US" dirty="0" err="1"/>
              <a:t>ViT</a:t>
            </a:r>
            <a:r>
              <a:rPr lang="en-US" dirty="0"/>
              <a:t> models.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8E2E9-5F0D-2DBF-C1F1-7AE3128C39C2}"/>
              </a:ext>
            </a:extLst>
          </p:cNvPr>
          <p:cNvSpPr/>
          <p:nvPr/>
        </p:nvSpPr>
        <p:spPr>
          <a:xfrm>
            <a:off x="1447825" y="3967527"/>
            <a:ext cx="7565365" cy="261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 an Agentic Vision-Language Framework for oral cancer screening.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 and segment oral lesions using YOLOv11 and SAM 2.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Analyze lesions using </a:t>
            </a:r>
            <a:r>
              <a:rPr lang="en-US" dirty="0" err="1"/>
              <a:t>MedGemma</a:t>
            </a:r>
            <a:r>
              <a:rPr lang="en-US" dirty="0"/>
              <a:t> Vision-Language Model.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Retrieve medical evidence using RAG.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Generate explainable diagnosis through multi-agent reasoning.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confidence-aware recommendations and clinical reports.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1A108-C042-5E9C-66C8-783ECAF52FAA}"/>
              </a:ext>
            </a:extLst>
          </p:cNvPr>
          <p:cNvSpPr txBox="1"/>
          <p:nvPr/>
        </p:nvSpPr>
        <p:spPr>
          <a:xfrm>
            <a:off x="494605" y="36094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79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3043855-68E6-86AB-157E-42D77448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5BBF98-206A-F596-B9EB-77E33F7BE4B8}"/>
              </a:ext>
            </a:extLst>
          </p:cNvPr>
          <p:cNvSpPr txBox="1"/>
          <p:nvPr/>
        </p:nvSpPr>
        <p:spPr>
          <a:xfrm>
            <a:off x="-178256" y="9855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9F4C731E-D560-7739-6DDC-9071C36CAA61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600B1-11D6-121A-96E9-4DA51478CCCA}"/>
              </a:ext>
            </a:extLst>
          </p:cNvPr>
          <p:cNvSpPr/>
          <p:nvPr/>
        </p:nvSpPr>
        <p:spPr>
          <a:xfrm>
            <a:off x="1447825" y="1477279"/>
            <a:ext cx="7565365" cy="3903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Proposed Novel Contributions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Agentic Multi-Agent Architecture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Vision-Language Understanding for Oral Lesions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Medical Retrieval-Augmented Generation (RAG)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Evidence Verification Module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Confidence Estimation Module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Explainable Clinical Reasoning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Interactive Clinical Dashboard</a:t>
            </a:r>
          </a:p>
          <a:p>
            <a:pPr>
              <a:lnSpc>
                <a:spcPct val="200000"/>
              </a:lnSpc>
            </a:pPr>
            <a:r>
              <a:rPr lang="en-US" dirty="0"/>
              <a:t>No existing oral cancer system combines all these modules in a unified framework.</a:t>
            </a:r>
          </a:p>
        </p:txBody>
      </p:sp>
    </p:spTree>
    <p:extLst>
      <p:ext uri="{BB962C8B-B14F-4D97-AF65-F5344CB8AC3E}">
        <p14:creationId xmlns:p14="http://schemas.microsoft.com/office/powerpoint/2010/main" val="128935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A51E19D-0FA0-4C5B-45AF-D2EB9222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31166" y="87347"/>
            <a:ext cx="328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C7B25AB9-2012-D0B1-3908-956D24FA4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68" y="395113"/>
            <a:ext cx="3950898" cy="646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CDF5C86-F2FD-ED47-A53C-370B8DDC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45574" y="316252"/>
            <a:ext cx="3409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45574" y="685584"/>
            <a:ext cx="5002306" cy="5923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Image Quality Assessment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Lesion Detection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Lesion Segmentation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Vision-Language Understanding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Clinical Feature Extraction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Medical RAG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Clinical Reasoning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Evidence Verification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Confidence Estimation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Recommendation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Dashboard Module</a:t>
            </a:r>
          </a:p>
        </p:txBody>
      </p:sp>
    </p:spTree>
    <p:extLst>
      <p:ext uri="{BB962C8B-B14F-4D97-AF65-F5344CB8AC3E}">
        <p14:creationId xmlns:p14="http://schemas.microsoft.com/office/powerpoint/2010/main" val="3166778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733D17-BE26-4C23-A9FB-5030EA50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D3694-33C1-FF16-DAD7-ACA0770939EF}"/>
              </a:ext>
            </a:extLst>
          </p:cNvPr>
          <p:cNvSpPr txBox="1"/>
          <p:nvPr/>
        </p:nvSpPr>
        <p:spPr>
          <a:xfrm>
            <a:off x="2789853" y="3004457"/>
            <a:ext cx="454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54633741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21478</TotalTime>
  <Words>782</Words>
  <Application>Microsoft Office PowerPoint</Application>
  <PresentationFormat>On-screen Show (4:3)</PresentationFormat>
  <Paragraphs>104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Hughes</dc:creator>
  <cp:lastModifiedBy>Redhani T V</cp:lastModifiedBy>
  <cp:revision>230</cp:revision>
  <dcterms:created xsi:type="dcterms:W3CDTF">2005-07-08T09:37:10Z</dcterms:created>
  <dcterms:modified xsi:type="dcterms:W3CDTF">2026-08-01T04:09:14Z</dcterms:modified>
</cp:coreProperties>
</file>